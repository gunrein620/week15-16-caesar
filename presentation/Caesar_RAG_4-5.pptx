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8638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흐름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33502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한 번에 의미 검색 · 정확 필터 · LLM 재정렬이 함께 동작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38528"/>
            <a:ext cx="1680667" cy="868680"/>
          </a:xfrm>
          <a:prstGeom prst="roundRect">
            <a:avLst>
              <a:gd name="adj" fmla="val 13684"/>
            </a:avLst>
          </a:prstGeom>
          <a:solidFill>
            <a:srgbClr val="F8F9FC"/>
          </a:solidFill>
          <a:ln w="12700">
            <a:solidFill>
              <a:srgbClr val="E9ECF4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2029968"/>
            <a:ext cx="157093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 질문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팬이 쓴 말 그대로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96950" y="1746504"/>
            <a:ext cx="384048" cy="384048"/>
          </a:xfrm>
          <a:prstGeom prst="ellipse">
            <a:avLst/>
          </a:prstGeom>
          <a:solidFill>
            <a:srgbClr val="8C93A8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96950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30475" y="1938528"/>
            <a:ext cx="1680667" cy="868680"/>
          </a:xfrm>
          <a:prstGeom prst="roundRect">
            <a:avLst>
              <a:gd name="adj" fmla="val 13684"/>
            </a:avLst>
          </a:prstGeom>
          <a:solidFill>
            <a:srgbClr val="F4F8FF"/>
          </a:solidFill>
          <a:ln w="12700">
            <a:solidFill>
              <a:srgbClr val="E9ECF4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85339" y="2029968"/>
            <a:ext cx="157093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65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의도 파싱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날짜·멤버수·출처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078785" y="1746504"/>
            <a:ext cx="384048" cy="384048"/>
          </a:xfrm>
          <a:prstGeom prst="ellipse">
            <a:avLst/>
          </a:prstGeom>
          <a:solidFill>
            <a:srgbClr val="5B7FE3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78785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13225" y="1938528"/>
            <a:ext cx="1680667" cy="868680"/>
          </a:xfrm>
          <a:prstGeom prst="roundRect">
            <a:avLst>
              <a:gd name="adj" fmla="val 13684"/>
            </a:avLst>
          </a:prstGeom>
          <a:solidFill>
            <a:srgbClr val="F4F8FF"/>
          </a:solidFill>
          <a:ln w="12700">
            <a:solidFill>
              <a:srgbClr val="E9ECF4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68089" y="2029968"/>
            <a:ext cx="157093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65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하이브리드 검색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 + 키워드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961534" y="1746504"/>
            <a:ext cx="384048" cy="384048"/>
          </a:xfrm>
          <a:prstGeom prst="ellipse">
            <a:avLst/>
          </a:prstGeom>
          <a:solidFill>
            <a:srgbClr val="5B7FE3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61534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5060" y="1938528"/>
            <a:ext cx="1680667" cy="868680"/>
          </a:xfrm>
          <a:prstGeom prst="roundRect">
            <a:avLst>
              <a:gd name="adj" fmla="val 13684"/>
            </a:avLst>
          </a:prstGeom>
          <a:solidFill>
            <a:srgbClr val="F4F8FF"/>
          </a:solidFill>
          <a:ln w="12700">
            <a:solidFill>
              <a:srgbClr val="E9ECF4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49924" y="2029968"/>
            <a:ext cx="157093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65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필터 · 부스트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정확조건 + 가중치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43370" y="1746504"/>
            <a:ext cx="384048" cy="384048"/>
          </a:xfrm>
          <a:prstGeom prst="ellipse">
            <a:avLst/>
          </a:prstGeom>
          <a:solidFill>
            <a:srgbClr val="5B7FE3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43370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76895" y="1938528"/>
            <a:ext cx="1680667" cy="868680"/>
          </a:xfrm>
          <a:prstGeom prst="roundRect">
            <a:avLst>
              <a:gd name="adj" fmla="val 13684"/>
            </a:avLst>
          </a:prstGeom>
          <a:solidFill>
            <a:srgbClr val="F4F8FF"/>
          </a:solidFill>
          <a:ln w="12700">
            <a:solidFill>
              <a:srgbClr val="E9ECF4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31759" y="2029968"/>
            <a:ext cx="157093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65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재정렬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gpt-5.5-mini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725205" y="1746504"/>
            <a:ext cx="384048" cy="384048"/>
          </a:xfrm>
          <a:prstGeom prst="ellipse">
            <a:avLst/>
          </a:prstGeom>
          <a:solidFill>
            <a:srgbClr val="5B7FE3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725205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959645" y="1938528"/>
            <a:ext cx="1680667" cy="868680"/>
          </a:xfrm>
          <a:prstGeom prst="roundRect">
            <a:avLst>
              <a:gd name="adj" fmla="val 13684"/>
            </a:avLst>
          </a:prstGeom>
          <a:solidFill>
            <a:srgbClr val="E7F5EF"/>
          </a:solidFill>
          <a:ln w="12700">
            <a:solidFill>
              <a:srgbClr val="E9ECF4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014509" y="2029968"/>
            <a:ext cx="157093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5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답변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출처[1][2] · SSE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0607954" y="1746504"/>
            <a:ext cx="384048" cy="384048"/>
          </a:xfrm>
          <a:prstGeom prst="ellipse">
            <a:avLst/>
          </a:prstGeom>
          <a:solidFill>
            <a:srgbClr val="12936A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607954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229307" y="2372868"/>
            <a:ext cx="201168" cy="0"/>
          </a:xfrm>
          <a:prstGeom prst="line">
            <a:avLst/>
          </a:prstGeom>
          <a:noFill/>
          <a:ln w="22225">
            <a:solidFill>
              <a:srgbClr val="C2CAE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111142" y="2372868"/>
            <a:ext cx="202082" cy="0"/>
          </a:xfrm>
          <a:prstGeom prst="line">
            <a:avLst/>
          </a:prstGeom>
          <a:noFill/>
          <a:ln w="22225">
            <a:solidFill>
              <a:srgbClr val="C2CAE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993892" y="2372868"/>
            <a:ext cx="201168" cy="0"/>
          </a:xfrm>
          <a:prstGeom prst="line">
            <a:avLst/>
          </a:prstGeom>
          <a:noFill/>
          <a:ln w="22225">
            <a:solidFill>
              <a:srgbClr val="C2CAE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875727" y="2372868"/>
            <a:ext cx="201168" cy="0"/>
          </a:xfrm>
          <a:prstGeom prst="line">
            <a:avLst/>
          </a:prstGeom>
          <a:noFill/>
          <a:ln w="22225">
            <a:solidFill>
              <a:srgbClr val="C2CAE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757562" y="2372868"/>
            <a:ext cx="202082" cy="0"/>
          </a:xfrm>
          <a:prstGeom prst="line">
            <a:avLst/>
          </a:prstGeom>
          <a:noFill/>
          <a:ln w="22225">
            <a:solidFill>
              <a:srgbClr val="C2CAE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749040" y="2862072"/>
            <a:ext cx="0" cy="210312"/>
          </a:xfrm>
          <a:prstGeom prst="line">
            <a:avLst/>
          </a:prstGeom>
          <a:noFill/>
          <a:ln w="22225">
            <a:solidFill>
              <a:srgbClr val="9DB2EE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409176" y="2862072"/>
            <a:ext cx="0" cy="210312"/>
          </a:xfrm>
          <a:prstGeom prst="line">
            <a:avLst/>
          </a:prstGeom>
          <a:noFill/>
          <a:ln w="22225">
            <a:solidFill>
              <a:srgbClr val="9DB2EE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48640" y="3127248"/>
            <a:ext cx="6400800" cy="2542032"/>
          </a:xfrm>
          <a:prstGeom prst="roundRect">
            <a:avLst>
              <a:gd name="adj" fmla="val 4676"/>
            </a:avLst>
          </a:prstGeom>
          <a:solidFill>
            <a:srgbClr val="FFFFFF"/>
          </a:solidFill>
          <a:ln w="12700">
            <a:solidFill>
              <a:srgbClr val="E9ECF4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22960" y="32918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</a:t>
            </a:r>
            <a:pPr indent="0" marL="0">
              <a:buNone/>
            </a:pPr>
            <a:r>
              <a:rPr lang="en-US" sz="150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하이브리드 검색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983480" y="3310128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/>
        </p:spPr>
      </p:sp>
      <p:sp>
        <p:nvSpPr>
          <p:cNvPr id="38" name="Text 36"/>
          <p:cNvSpPr/>
          <p:nvPr/>
        </p:nvSpPr>
        <p:spPr>
          <a:xfrm>
            <a:off x="4983480" y="33101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65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 + 키워드 동시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22960" y="3822192"/>
            <a:ext cx="5852160" cy="0"/>
          </a:xfrm>
          <a:prstGeom prst="line">
            <a:avLst/>
          </a:prstGeom>
          <a:noFill/>
          <a:ln w="12700">
            <a:solidFill>
              <a:srgbClr val="ECEE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1248" y="3968496"/>
            <a:ext cx="182880" cy="182880"/>
          </a:xfrm>
          <a:prstGeom prst="ellipse">
            <a:avLst/>
          </a:prstGeom>
          <a:solidFill>
            <a:srgbClr val="5B7FE3"/>
          </a:solidFill>
          <a:ln/>
        </p:spPr>
      </p:sp>
      <p:sp>
        <p:nvSpPr>
          <p:cNvPr id="41" name="Text 39"/>
          <p:cNvSpPr/>
          <p:nvPr/>
        </p:nvSpPr>
        <p:spPr>
          <a:xfrm>
            <a:off x="1115568" y="3913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5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 검색 · 의미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59536" y="427939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05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질의 보강 (질문 + 핵심 키워드)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05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text-embedding-3-small 임베딩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05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pgvector &lt;=&gt; 코사인 · 상위 120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858768" y="3968496"/>
            <a:ext cx="182880" cy="182880"/>
          </a:xfrm>
          <a:prstGeom prst="ellipse">
            <a:avLst/>
          </a:prstGeom>
          <a:solidFill>
            <a:srgbClr val="8C93A8"/>
          </a:solidFill>
          <a:ln/>
        </p:spPr>
      </p:sp>
      <p:sp>
        <p:nvSpPr>
          <p:cNvPr id="44" name="Text 42"/>
          <p:cNvSpPr/>
          <p:nvPr/>
        </p:nvSpPr>
        <p:spPr>
          <a:xfrm>
            <a:off x="4133088" y="3913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64C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 검색 · 정확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877056" y="427939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C93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05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ilike 부분 일치 검색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8C93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05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공백 무시 매칭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8C93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05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정확한 단어 그대로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22960" y="5248656"/>
            <a:ext cx="5852160" cy="329184"/>
          </a:xfrm>
          <a:prstGeom prst="roundRect">
            <a:avLst>
              <a:gd name="adj" fmla="val 27778"/>
            </a:avLst>
          </a:prstGeom>
          <a:solidFill>
            <a:srgbClr val="EAF0FD"/>
          </a:solidFill>
          <a:ln/>
        </p:spPr>
      </p:sp>
      <p:sp>
        <p:nvSpPr>
          <p:cNvPr id="47" name="Text 45"/>
          <p:cNvSpPr/>
          <p:nvPr/>
        </p:nvSpPr>
        <p:spPr>
          <a:xfrm>
            <a:off x="1024128" y="524865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5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합집합</a:t>
            </a:r>
            <a:pPr indent="0" marL="0">
              <a:buNone/>
            </a:pPr>
            <a:r>
              <a:rPr lang="en-US" sz="11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후 소스 단위 중복 제거 → 상위 후보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178040" y="3127248"/>
            <a:ext cx="4462272" cy="2542032"/>
          </a:xfrm>
          <a:prstGeom prst="roundRect">
            <a:avLst>
              <a:gd name="adj" fmla="val 4676"/>
            </a:avLst>
          </a:prstGeom>
          <a:solidFill>
            <a:srgbClr val="FFFFFF"/>
          </a:solidFill>
          <a:ln w="12700">
            <a:solidFill>
              <a:srgbClr val="E9ECF4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452360" y="32918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④–⑤ </a:t>
            </a:r>
            <a:pPr indent="0" marL="0">
              <a:buNone/>
            </a:pPr>
            <a:r>
              <a:rPr lang="en-US" sz="140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필터 · 부스트 · 재정렬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452360" y="3822192"/>
            <a:ext cx="3931920" cy="0"/>
          </a:xfrm>
          <a:prstGeom prst="line">
            <a:avLst/>
          </a:prstGeom>
          <a:noFill/>
          <a:ln w="12700">
            <a:solidFill>
              <a:srgbClr val="ECEE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70648" y="3986784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· 미디어 · 멤버 수 필터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포함 / 제외어 정확 매칭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archive(곡·앨범) 가중 · 상한 0.35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 = 코사인 + 부스트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재정렬 gpt-5.5-mini · 1페이지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" y="5779008"/>
            <a:ext cx="11091672" cy="548640"/>
          </a:xfrm>
          <a:prstGeom prst="roundRect">
            <a:avLst>
              <a:gd name="adj" fmla="val 21667"/>
            </a:avLst>
          </a:prstGeom>
          <a:solidFill>
            <a:srgbClr val="EAF0FD"/>
          </a:solidFill>
          <a:ln/>
        </p:spPr>
      </p:sp>
      <p:sp>
        <p:nvSpPr>
          <p:cNvPr id="53" name="Text 51"/>
          <p:cNvSpPr/>
          <p:nvPr/>
        </p:nvSpPr>
        <p:spPr>
          <a:xfrm>
            <a:off x="822960" y="5779008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5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소스   </a:t>
            </a:r>
            <a:pPr algn="ctr" indent="0" marL="0">
              <a:buNone/>
            </a:pPr>
            <a:r>
              <a:rPr lang="en-US" sz="125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YouTube 자막(타임스탬프 딥링크) · 게시글 · 브리핑 · Naver 뉴스/블로그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8638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스택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3898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Frontend · Backend · Database · External sync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02152" cy="3200400"/>
          </a:xfrm>
          <a:prstGeom prst="roundRect">
            <a:avLst>
              <a:gd name="adj" fmla="val 3714"/>
            </a:avLst>
          </a:prstGeom>
          <a:solidFill>
            <a:srgbClr val="FFFFFF"/>
          </a:solidFill>
          <a:ln w="12700">
            <a:solidFill>
              <a:srgbClr val="E9ECF4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523744"/>
            <a:ext cx="237744" cy="237744"/>
          </a:xfrm>
          <a:prstGeom prst="ellipse">
            <a:avLst/>
          </a:prstGeom>
          <a:solidFill>
            <a:srgbClr val="8C93A8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07792" y="2505456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EFF1F6"/>
          </a:solidFill>
          <a:ln/>
        </p:spPr>
      </p:sp>
      <p:sp>
        <p:nvSpPr>
          <p:cNvPr id="8" name="Text 6"/>
          <p:cNvSpPr/>
          <p:nvPr/>
        </p:nvSpPr>
        <p:spPr>
          <a:xfrm>
            <a:off x="2907792" y="25054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64C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Vercel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41248" y="3035808"/>
            <a:ext cx="2916936" cy="0"/>
          </a:xfrm>
          <a:prstGeom prst="line">
            <a:avLst/>
          </a:prstGeom>
          <a:noFill/>
          <a:ln w="12700">
            <a:solidFill>
              <a:srgbClr val="ECEE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3218688"/>
            <a:ext cx="2953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C93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19 · TypeScript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C93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Vite 빌드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C93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Query 상태관리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C93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SSE 실시간 스트리밍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2194560"/>
            <a:ext cx="3502152" cy="3200400"/>
          </a:xfrm>
          <a:prstGeom prst="roundRect">
            <a:avLst>
              <a:gd name="adj" fmla="val 3714"/>
            </a:avLst>
          </a:prstGeom>
          <a:solidFill>
            <a:srgbClr val="FFFFFF"/>
          </a:solidFill>
          <a:ln w="12700">
            <a:solidFill>
              <a:srgbClr val="E9ECF4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36008" y="2523744"/>
            <a:ext cx="237744" cy="237744"/>
          </a:xfrm>
          <a:prstGeom prst="ellipse">
            <a:avLst/>
          </a:prstGeom>
          <a:solidFill>
            <a:srgbClr val="5B7FE3"/>
          </a:solidFill>
          <a:ln/>
        </p:spPr>
      </p:sp>
      <p:sp>
        <p:nvSpPr>
          <p:cNvPr id="13" name="Text 11"/>
          <p:cNvSpPr/>
          <p:nvPr/>
        </p:nvSpPr>
        <p:spPr>
          <a:xfrm>
            <a:off x="5001768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Backend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02552" y="2505456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/>
        </p:spPr>
      </p:sp>
      <p:sp>
        <p:nvSpPr>
          <p:cNvPr id="15" name="Text 13"/>
          <p:cNvSpPr/>
          <p:nvPr/>
        </p:nvSpPr>
        <p:spPr>
          <a:xfrm>
            <a:off x="6702552" y="25054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65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Railway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36008" y="3035808"/>
            <a:ext cx="2916936" cy="0"/>
          </a:xfrm>
          <a:prstGeom prst="line">
            <a:avLst/>
          </a:prstGeom>
          <a:noFill/>
          <a:ln w="12700">
            <a:solidFill>
              <a:srgbClr val="ECEE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4296" y="3218688"/>
            <a:ext cx="2953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FastAPI · Python 3.12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SQLAlchemy · Alembic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OpenAI 임베딩 + LLM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B7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LangGraph · MCP 에이전트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2194560"/>
            <a:ext cx="3502152" cy="3200400"/>
          </a:xfrm>
          <a:prstGeom prst="roundRect">
            <a:avLst>
              <a:gd name="adj" fmla="val 3714"/>
            </a:avLst>
          </a:prstGeom>
          <a:solidFill>
            <a:srgbClr val="FFFFFF"/>
          </a:solidFill>
          <a:ln w="12700">
            <a:solidFill>
              <a:srgbClr val="E9ECF4"/>
            </a:solidFill>
            <a:prstDash val="solid"/>
          </a:ln>
          <a:effectLst>
            <a:outerShdw sx="100000" sy="100000" kx="0" ky="0" algn="bl" rotWithShape="0" blurRad="139700" dist="38100" dir="5400000">
              <a:srgbClr val="9AA3BE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30768" y="2523744"/>
            <a:ext cx="237744" cy="237744"/>
          </a:xfrm>
          <a:prstGeom prst="ellipse">
            <a:avLst/>
          </a:prstGeom>
          <a:solidFill>
            <a:srgbClr val="12936A"/>
          </a:solidFill>
          <a:ln/>
        </p:spPr>
      </p:sp>
      <p:sp>
        <p:nvSpPr>
          <p:cNvPr id="20" name="Text 18"/>
          <p:cNvSpPr/>
          <p:nvPr/>
        </p:nvSpPr>
        <p:spPr>
          <a:xfrm>
            <a:off x="8796528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7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497312" y="2505456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E7F5EF"/>
          </a:solidFill>
          <a:ln/>
        </p:spPr>
      </p:sp>
      <p:sp>
        <p:nvSpPr>
          <p:cNvPr id="22" name="Text 20"/>
          <p:cNvSpPr/>
          <p:nvPr/>
        </p:nvSpPr>
        <p:spPr>
          <a:xfrm>
            <a:off x="10497312" y="25054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5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Railway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430768" y="3035808"/>
            <a:ext cx="2916936" cy="0"/>
          </a:xfrm>
          <a:prstGeom prst="line">
            <a:avLst/>
          </a:prstGeom>
          <a:noFill/>
          <a:ln w="12700">
            <a:solidFill>
              <a:srgbClr val="ECEE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49056" y="3218688"/>
            <a:ext cx="2953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93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PostgreSQL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293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pgvector 벡터 검색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293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psycopg 3 드라이버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293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게시글·영상·임베딩 저장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18056"/>
            </a:avLst>
          </a:prstGeom>
          <a:solidFill>
            <a:srgbClr val="EAF0FD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623560"/>
            <a:ext cx="10543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65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데이터 수집   </a:t>
            </a:r>
            <a:pPr algn="ctr" indent="0" marL="0">
              <a:buNone/>
            </a:pPr>
            <a:r>
              <a:rPr lang="en-US" sz="1300" dirty="0">
                <a:solidFill>
                  <a:srgbClr val="565C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YouTube 영상·자막 · Naver 뉴스/블로그 자동 동기화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· MCP · Agent</dc:title>
  <dc:subject>PptxGenJS Presentation</dc:subject>
  <dc:creator>Caesar</dc:creator>
  <cp:lastModifiedBy>Caesar</cp:lastModifiedBy>
  <cp:revision>1</cp:revision>
  <dcterms:created xsi:type="dcterms:W3CDTF">2026-06-17T04:33:53Z</dcterms:created>
  <dcterms:modified xsi:type="dcterms:W3CDTF">2026-06-17T04:33:53Z</dcterms:modified>
</cp:coreProperties>
</file>